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59" r:id="rId10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0F0F"/>
    <a:srgbClr val="C2EAB4"/>
    <a:srgbClr val="326C1E"/>
    <a:srgbClr val="E9F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>
        <p:scale>
          <a:sx n="83" d="100"/>
          <a:sy n="83" d="100"/>
        </p:scale>
        <p:origin x="691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45895-8B61-A6EE-7C62-0B665314B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3ECEE-88DD-F612-7F8B-1D94A9B6E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EDAA8-F61B-3AC5-20C9-D800178B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58240-AA34-047E-F8DF-20CEDF393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3B177-2910-BE7E-AAD7-C45D0D7D9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87522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A307-2FA2-ABD9-1833-A6D33F8BE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D1F55-EBE0-9D2C-4689-5CB4C59E9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98DE1-68C4-965E-E182-B48DDA258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70A10-E3C2-D72A-15B8-583CBD1D4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76F86-9774-6E2C-776E-873280A8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2854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19509-ADD9-6021-1602-726509B6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9E033-27DA-025D-1AA0-ECD6BC700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EB6EA-539A-F0BF-9C6E-DA81E9354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10CA8-17DC-590E-CBE0-F3E45C6EA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2AD16-4668-E1BC-F787-FBA2159A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51725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77FF2-8F3A-194A-6260-DC0D4533D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9D7D1-DB79-02A4-CCC0-3EF16F621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5D8F8-2D95-F202-BE2F-D8BE8BBEC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B97FE-486A-24C7-50FB-EF9965E4F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E7409-413C-F931-239F-F2BDF0E89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4D64B-1207-8BA7-2A60-8634CFC16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00713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B61B5-5454-6320-74AA-D8A58864C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B4721-4EE9-43BA-790E-8E1F173A0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8D877B-E6E7-F6CE-D758-ADEFF0526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7C76A-E1B5-E9AD-904E-CEBCFF15B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9E6FC-7277-06F0-9E2C-888FF0854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BD7CC8-967D-62AE-2B4A-45B2A1A0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A8CF7-15E8-871D-83F3-E35A00D38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0BCA14-85F1-1C3F-667E-88C6B3163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58010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82AD-7066-132F-40E5-36E819939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2110DA-ACCC-7EC1-1D17-42B7D617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A7594-535E-3DDB-9E08-E6451B0B8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D0977-EB8D-A892-F25A-608404F2F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3668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52E04-3EFB-4F53-87E6-2DD2DC16C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F50CDF-C77A-17B9-EE45-C2D7A7F50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46BE0-4F5F-0000-781A-0F049773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49800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05F7-AF99-D74E-DFE3-665E0F872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A3BFD-E6F8-28ED-5AB3-49F29DDDD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7A382-C336-14A7-17A7-562C854DF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F7955-481C-8DAD-5925-1F99AD0B9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3A22D-D5FD-C320-8D85-C439F6506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65FBC-E07A-B4F2-5CC4-0B44654A2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84489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79A9F-B926-8778-6DE1-230959C4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D44AD3-9EA9-70DF-8AF6-3C1A7914C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F2693-1A99-5064-FE58-DC67EBCCA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9BB41-23E4-C183-FB63-6530A0B87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DC441-DF7E-003F-3D73-9D335A0BE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440A0-78C2-87A7-1999-A5B17FB57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4333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57A9-11CB-2126-3E25-3BE88B3BD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22310-96BB-9223-79E3-6760DB3C5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DE591-DA6B-FB91-B8D5-0D5DDA0A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7949F-DB0D-8D3B-F973-DF121BA2A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5011F-60CC-C12E-DFD6-61B90C151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96753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B7DA16-3929-92F4-4FE0-43698D90ED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3EFA99-1414-8426-7185-7EF6632F4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287E7-B0F6-8069-98DD-826116806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C9D09-73C7-4871-BF65-83F5C4A19A50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38935-3AA3-27B0-6FDE-F2189052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23D14-A237-CDEA-76AD-2B4C04E68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06389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5CCE961-1900-3701-4BF2-6EDE815110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77688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25" imgH="424" progId="TCLayout.ActiveDocument.1">
                  <p:embed/>
                </p:oleObj>
              </mc:Choice>
              <mc:Fallback>
                <p:oleObj name="think-cell Slide" r:id="rId14" imgW="425" imgH="4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9177E4-D932-1EC8-BC1C-B1153C16C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45747-C7EA-01DF-80B6-0F786EB49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8759-4912-C84B-98BF-967E37367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DC9D09-73C7-4871-BF65-83F5C4A19A50}" type="datetimeFigureOut">
              <a:rPr lang="el-GR" smtClean="0"/>
              <a:t>6/12/2025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E4A32-6D63-B88B-4F3C-4D56C43E7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2F097-A546-8660-2BDB-0A924E576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75CAD-5AF1-4D71-BB07-05ACD70DC2FD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90072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1.emf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.emf"/><Relationship Id="rId9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emf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26.pn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27.pn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logo with a black background&#10;&#10;AI-generated content may be incorrect.">
            <a:extLst>
              <a:ext uri="{FF2B5EF4-FFF2-40B4-BE49-F238E27FC236}">
                <a16:creationId xmlns:a16="http://schemas.microsoft.com/office/drawing/2014/main" id="{70C87047-096A-1225-5890-444207730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" t="3391" r="1182" b="2343"/>
          <a:stretch>
            <a:fillRect/>
          </a:stretch>
        </p:blipFill>
        <p:spPr>
          <a:xfrm>
            <a:off x="0" y="0"/>
            <a:ext cx="12252001" cy="68730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C30C06-E506-52B2-8170-C6EC108CB1BB}"/>
              </a:ext>
            </a:extLst>
          </p:cNvPr>
          <p:cNvSpPr txBox="1"/>
          <p:nvPr/>
        </p:nvSpPr>
        <p:spPr>
          <a:xfrm>
            <a:off x="2517058" y="5289756"/>
            <a:ext cx="7878599" cy="1140541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3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Spotify Analyzing</a:t>
            </a:r>
          </a:p>
          <a:p>
            <a:pPr algn="ctr"/>
            <a:r>
              <a:rPr lang="en-US" sz="2000" b="1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Data Science Bootcamp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1926F-7521-328B-C05A-3B1F35D78E3A}"/>
              </a:ext>
            </a:extLst>
          </p:cNvPr>
          <p:cNvSpPr txBox="1"/>
          <p:nvPr/>
        </p:nvSpPr>
        <p:spPr>
          <a:xfrm>
            <a:off x="4463845" y="3967317"/>
            <a:ext cx="5633884" cy="712513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endParaRPr lang="en-US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48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F92433D6-9C91-4D3D-4093-E3E75249EA9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70158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B52D0C1-398D-0743-240A-234EF6C39882}"/>
              </a:ext>
            </a:extLst>
          </p:cNvPr>
          <p:cNvSpPr/>
          <p:nvPr/>
        </p:nvSpPr>
        <p:spPr>
          <a:xfrm>
            <a:off x="8289523" y="4891175"/>
            <a:ext cx="2399060" cy="1022551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CF66CCC-8EAF-9EB7-BB3A-26FB1EE55FB6}"/>
              </a:ext>
            </a:extLst>
          </p:cNvPr>
          <p:cNvSpPr/>
          <p:nvPr/>
        </p:nvSpPr>
        <p:spPr>
          <a:xfrm>
            <a:off x="5756790" y="4891175"/>
            <a:ext cx="2035273" cy="102255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377B44-D383-2A5B-87CC-F84BAC111376}"/>
              </a:ext>
            </a:extLst>
          </p:cNvPr>
          <p:cNvCxnSpPr>
            <a:cxnSpLocks/>
          </p:cNvCxnSpPr>
          <p:nvPr/>
        </p:nvCxnSpPr>
        <p:spPr>
          <a:xfrm>
            <a:off x="324465" y="304799"/>
            <a:ext cx="11189109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014B29C-F970-F579-3F38-E209988CE5C1}"/>
              </a:ext>
            </a:extLst>
          </p:cNvPr>
          <p:cNvSpPr/>
          <p:nvPr/>
        </p:nvSpPr>
        <p:spPr>
          <a:xfrm>
            <a:off x="776748" y="1396178"/>
            <a:ext cx="2172929" cy="27923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D60EC9-5A52-4D40-FFF5-DECDD81A15BC}"/>
              </a:ext>
            </a:extLst>
          </p:cNvPr>
          <p:cNvSpPr/>
          <p:nvPr/>
        </p:nvSpPr>
        <p:spPr>
          <a:xfrm>
            <a:off x="1268361" y="1946787"/>
            <a:ext cx="1258530" cy="117003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5B7CA4-DDF8-7EA5-8C6A-138356345913}"/>
              </a:ext>
            </a:extLst>
          </p:cNvPr>
          <p:cNvSpPr txBox="1"/>
          <p:nvPr/>
        </p:nvSpPr>
        <p:spPr>
          <a:xfrm>
            <a:off x="963566" y="3334970"/>
            <a:ext cx="1661652" cy="647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Vasiliki </a:t>
            </a:r>
            <a:r>
              <a:rPr lang="en-US" b="1" dirty="0" err="1">
                <a:solidFill>
                  <a:schemeClr val="bg1"/>
                </a:solidFill>
              </a:rPr>
              <a:t>Nterkou</a:t>
            </a:r>
            <a:endParaRPr lang="el-GR" b="1" dirty="0">
              <a:solidFill>
                <a:schemeClr val="bg1"/>
              </a:solidFill>
            </a:endParaRPr>
          </a:p>
        </p:txBody>
      </p:sp>
      <p:pic>
        <p:nvPicPr>
          <p:cNvPr id="13" name="Graphic 12" descr="Woman outline">
            <a:extLst>
              <a:ext uri="{FF2B5EF4-FFF2-40B4-BE49-F238E27FC236}">
                <a16:creationId xmlns:a16="http://schemas.microsoft.com/office/drawing/2014/main" id="{FB927DCC-D006-C895-A2C0-FD3A6B5362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0761" y="2045107"/>
            <a:ext cx="914400" cy="9144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B93B592-0273-1590-FAC3-5BB7E5323F55}"/>
              </a:ext>
            </a:extLst>
          </p:cNvPr>
          <p:cNvSpPr/>
          <p:nvPr/>
        </p:nvSpPr>
        <p:spPr>
          <a:xfrm>
            <a:off x="3692013" y="1396178"/>
            <a:ext cx="2172929" cy="27923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9E11861-36A1-988A-6AEA-6AD4705DE4B9}"/>
              </a:ext>
            </a:extLst>
          </p:cNvPr>
          <p:cNvSpPr/>
          <p:nvPr/>
        </p:nvSpPr>
        <p:spPr>
          <a:xfrm>
            <a:off x="4183626" y="1946787"/>
            <a:ext cx="1258530" cy="117003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FAB40-7759-6523-6B85-99B4EC360863}"/>
              </a:ext>
            </a:extLst>
          </p:cNvPr>
          <p:cNvSpPr txBox="1"/>
          <p:nvPr/>
        </p:nvSpPr>
        <p:spPr>
          <a:xfrm>
            <a:off x="3908323" y="3334969"/>
            <a:ext cx="1823883" cy="735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Vassia</a:t>
            </a:r>
            <a:r>
              <a:rPr lang="en-US" b="1" dirty="0">
                <a:solidFill>
                  <a:schemeClr val="bg1"/>
                </a:solidFill>
              </a:rPr>
              <a:t> Galanopoulou</a:t>
            </a:r>
            <a:endParaRPr lang="el-GR" b="1" dirty="0">
              <a:solidFill>
                <a:schemeClr val="bg1"/>
              </a:solidFill>
            </a:endParaRPr>
          </a:p>
        </p:txBody>
      </p:sp>
      <p:pic>
        <p:nvPicPr>
          <p:cNvPr id="17" name="Graphic 16" descr="Woman outline">
            <a:extLst>
              <a:ext uri="{FF2B5EF4-FFF2-40B4-BE49-F238E27FC236}">
                <a16:creationId xmlns:a16="http://schemas.microsoft.com/office/drawing/2014/main" id="{FDE07B29-50AD-2BCF-43F0-60DDDCEF0D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6026" y="2045107"/>
            <a:ext cx="914400" cy="9144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0EED2A4-110B-0D4D-0CF4-32533A518781}"/>
              </a:ext>
            </a:extLst>
          </p:cNvPr>
          <p:cNvSpPr/>
          <p:nvPr/>
        </p:nvSpPr>
        <p:spPr>
          <a:xfrm>
            <a:off x="6558117" y="1396178"/>
            <a:ext cx="2172929" cy="27923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91DEEB9-C2EC-A940-A7A1-8F543D0AF359}"/>
              </a:ext>
            </a:extLst>
          </p:cNvPr>
          <p:cNvSpPr/>
          <p:nvPr/>
        </p:nvSpPr>
        <p:spPr>
          <a:xfrm>
            <a:off x="7049730" y="1946787"/>
            <a:ext cx="1258530" cy="1170039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24FED9-98B0-0276-1047-61C7285950F1}"/>
              </a:ext>
            </a:extLst>
          </p:cNvPr>
          <p:cNvSpPr txBox="1"/>
          <p:nvPr/>
        </p:nvSpPr>
        <p:spPr>
          <a:xfrm>
            <a:off x="6774427" y="3334969"/>
            <a:ext cx="1823883" cy="735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Angeliki</a:t>
            </a:r>
          </a:p>
          <a:p>
            <a:r>
              <a:rPr lang="en-US" b="1" dirty="0">
                <a:solidFill>
                  <a:schemeClr val="bg1"/>
                </a:solidFill>
              </a:rPr>
              <a:t>Triantafyllou</a:t>
            </a:r>
            <a:endParaRPr lang="el-GR" b="1" dirty="0">
              <a:solidFill>
                <a:schemeClr val="bg1"/>
              </a:solidFill>
            </a:endParaRPr>
          </a:p>
        </p:txBody>
      </p:sp>
      <p:pic>
        <p:nvPicPr>
          <p:cNvPr id="21" name="Graphic 20" descr="Woman outline">
            <a:extLst>
              <a:ext uri="{FF2B5EF4-FFF2-40B4-BE49-F238E27FC236}">
                <a16:creationId xmlns:a16="http://schemas.microsoft.com/office/drawing/2014/main" id="{B86DCBDD-AE58-F6AC-D181-5959A9925D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2130" y="2045107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9E9F6C6-DDB4-121F-B0BA-83E50B7486A3}"/>
              </a:ext>
            </a:extLst>
          </p:cNvPr>
          <p:cNvSpPr txBox="1"/>
          <p:nvPr/>
        </p:nvSpPr>
        <p:spPr>
          <a:xfrm>
            <a:off x="776748" y="812670"/>
            <a:ext cx="7954298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Our Teams</a:t>
            </a:r>
            <a:endParaRPr lang="el-GR" sz="20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1" name="Graphic 30" descr="Database outline">
            <a:extLst>
              <a:ext uri="{FF2B5EF4-FFF2-40B4-BE49-F238E27FC236}">
                <a16:creationId xmlns:a16="http://schemas.microsoft.com/office/drawing/2014/main" id="{94BDA0BA-1AB0-F717-C314-EE360D1697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33300" y="5069700"/>
            <a:ext cx="624350" cy="62435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D91A555-E01F-85F1-5778-67E4BF1EBC1F}"/>
              </a:ext>
            </a:extLst>
          </p:cNvPr>
          <p:cNvCxnSpPr>
            <a:cxnSpLocks/>
          </p:cNvCxnSpPr>
          <p:nvPr/>
        </p:nvCxnSpPr>
        <p:spPr>
          <a:xfrm>
            <a:off x="6120584" y="5766897"/>
            <a:ext cx="1135625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9DC6079-02EF-784B-711A-944BFBAEB9FD}"/>
              </a:ext>
            </a:extLst>
          </p:cNvPr>
          <p:cNvSpPr/>
          <p:nvPr/>
        </p:nvSpPr>
        <p:spPr>
          <a:xfrm>
            <a:off x="3224057" y="4898298"/>
            <a:ext cx="2035273" cy="102255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0C57184-4CB9-A880-CD46-D17A2ABACD25}"/>
              </a:ext>
            </a:extLst>
          </p:cNvPr>
          <p:cNvCxnSpPr>
            <a:cxnSpLocks/>
          </p:cNvCxnSpPr>
          <p:nvPr/>
        </p:nvCxnSpPr>
        <p:spPr>
          <a:xfrm>
            <a:off x="3587851" y="5763972"/>
            <a:ext cx="1135625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Graphic 38" descr="Ui Ux with solid fill">
            <a:extLst>
              <a:ext uri="{FF2B5EF4-FFF2-40B4-BE49-F238E27FC236}">
                <a16:creationId xmlns:a16="http://schemas.microsoft.com/office/drawing/2014/main" id="{D5290706-9F4F-59D6-2EE2-B081C5DDCB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66157" y="5043323"/>
            <a:ext cx="644013" cy="64401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B7421A51-2F0C-E9F2-5772-3A3DF6CF55A9}"/>
              </a:ext>
            </a:extLst>
          </p:cNvPr>
          <p:cNvSpPr txBox="1"/>
          <p:nvPr/>
        </p:nvSpPr>
        <p:spPr>
          <a:xfrm>
            <a:off x="5888875" y="4946079"/>
            <a:ext cx="1637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Size</a:t>
            </a:r>
            <a:br>
              <a:rPr lang="en-US" sz="16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sz="16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114.000</a:t>
            </a:r>
            <a:r>
              <a:rPr lang="en-US" sz="1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400" i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tracks</a:t>
            </a:r>
            <a:endParaRPr lang="el-GR" sz="1400" i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1DF182-49A5-17CF-BAFE-488490F23369}"/>
              </a:ext>
            </a:extLst>
          </p:cNvPr>
          <p:cNvSpPr txBox="1"/>
          <p:nvPr/>
        </p:nvSpPr>
        <p:spPr>
          <a:xfrm>
            <a:off x="3570836" y="4946080"/>
            <a:ext cx="10127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Source</a:t>
            </a:r>
            <a:endParaRPr lang="el-GR" sz="16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en-US" sz="1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Kaggle</a:t>
            </a:r>
            <a:endParaRPr lang="el-GR" sz="1600" i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591BD77-4C78-E164-CA02-5FD6CC46D893}"/>
              </a:ext>
            </a:extLst>
          </p:cNvPr>
          <p:cNvSpPr/>
          <p:nvPr/>
        </p:nvSpPr>
        <p:spPr>
          <a:xfrm>
            <a:off x="824997" y="4891175"/>
            <a:ext cx="2035273" cy="1022556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B94A697-FB3D-2F70-C7DB-1BAD018482FF}"/>
              </a:ext>
            </a:extLst>
          </p:cNvPr>
          <p:cNvCxnSpPr>
            <a:cxnSpLocks/>
          </p:cNvCxnSpPr>
          <p:nvPr/>
        </p:nvCxnSpPr>
        <p:spPr>
          <a:xfrm>
            <a:off x="1165609" y="5786993"/>
            <a:ext cx="1158807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8DF5426-EB25-2AE3-C9C7-92D445BACCDF}"/>
              </a:ext>
            </a:extLst>
          </p:cNvPr>
          <p:cNvSpPr txBox="1"/>
          <p:nvPr/>
        </p:nvSpPr>
        <p:spPr>
          <a:xfrm>
            <a:off x="1020097" y="4912879"/>
            <a:ext cx="1755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Dataset</a:t>
            </a:r>
          </a:p>
          <a:p>
            <a:r>
              <a:rPr lang="en-US" sz="1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114.000 Spotify Songs</a:t>
            </a:r>
            <a:endParaRPr lang="el-GR" sz="16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70A2841-2BFE-1898-9B57-6EC4FB9E4466}"/>
              </a:ext>
            </a:extLst>
          </p:cNvPr>
          <p:cNvCxnSpPr>
            <a:cxnSpLocks/>
          </p:cNvCxnSpPr>
          <p:nvPr/>
        </p:nvCxnSpPr>
        <p:spPr>
          <a:xfrm>
            <a:off x="8653317" y="5766897"/>
            <a:ext cx="1135625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6484A0D-0B58-A513-6718-E04B5CB86228}"/>
              </a:ext>
            </a:extLst>
          </p:cNvPr>
          <p:cNvSpPr txBox="1"/>
          <p:nvPr/>
        </p:nvSpPr>
        <p:spPr>
          <a:xfrm>
            <a:off x="8421608" y="4946079"/>
            <a:ext cx="17875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Τ</a:t>
            </a:r>
            <a:r>
              <a:rPr lang="en-US" sz="16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ools</a:t>
            </a:r>
            <a:r>
              <a:rPr lang="en-US" sz="16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</a:p>
          <a:p>
            <a:r>
              <a:rPr lang="en-US" sz="14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Pandas,Matplotlib,Seaborn</a:t>
            </a:r>
            <a:endParaRPr lang="el-GR" sz="14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6" name="Graphic 55" descr="Gears with solid fill">
            <a:extLst>
              <a:ext uri="{FF2B5EF4-FFF2-40B4-BE49-F238E27FC236}">
                <a16:creationId xmlns:a16="http://schemas.microsoft.com/office/drawing/2014/main" id="{9ED3F4AB-4D01-BF5D-4734-921BE176B1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89132" y="5132984"/>
            <a:ext cx="504156" cy="50415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09DA7488-6C14-58F3-3FE4-69F252B7D15F}"/>
              </a:ext>
            </a:extLst>
          </p:cNvPr>
          <p:cNvSpPr txBox="1"/>
          <p:nvPr/>
        </p:nvSpPr>
        <p:spPr>
          <a:xfrm>
            <a:off x="9482705" y="1605290"/>
            <a:ext cx="222116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Objective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:</a:t>
            </a:r>
            <a:br>
              <a:rPr lang="en-US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Analyze Spotify streaming trends to uncover patterns in music consumption</a:t>
            </a:r>
            <a:endParaRPr lang="el-GR" sz="1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9" name="Rectangle: Diagonal Corners Rounded 58">
            <a:extLst>
              <a:ext uri="{FF2B5EF4-FFF2-40B4-BE49-F238E27FC236}">
                <a16:creationId xmlns:a16="http://schemas.microsoft.com/office/drawing/2014/main" id="{8DBD1F4F-FB56-C67C-4EB2-AAF246211901}"/>
              </a:ext>
            </a:extLst>
          </p:cNvPr>
          <p:cNvSpPr/>
          <p:nvPr/>
        </p:nvSpPr>
        <p:spPr>
          <a:xfrm>
            <a:off x="9311148" y="1462788"/>
            <a:ext cx="2480514" cy="1545878"/>
          </a:xfrm>
          <a:prstGeom prst="round2DiagRect">
            <a:avLst>
              <a:gd name="adj1" fmla="val 30622"/>
              <a:gd name="adj2" fmla="val 0"/>
            </a:avLst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61" name="Graphic 60" descr="Research with solid fill">
            <a:extLst>
              <a:ext uri="{FF2B5EF4-FFF2-40B4-BE49-F238E27FC236}">
                <a16:creationId xmlns:a16="http://schemas.microsoft.com/office/drawing/2014/main" id="{7E3CCF14-2D16-67DF-106A-481A6CED978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71239" y="1556131"/>
            <a:ext cx="501445" cy="50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06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C63261-7A87-7D6E-32FE-A0B7C0465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8452953D-B5D2-D92D-58D3-D136326C0A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92433D6-9C91-4D3D-4093-E3E75249EA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6902AE-B0A8-C443-F37A-28593FF40E50}"/>
              </a:ext>
            </a:extLst>
          </p:cNvPr>
          <p:cNvCxnSpPr>
            <a:cxnSpLocks/>
          </p:cNvCxnSpPr>
          <p:nvPr/>
        </p:nvCxnSpPr>
        <p:spPr>
          <a:xfrm>
            <a:off x="324465" y="521109"/>
            <a:ext cx="11189109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C1A3B8A-858B-5A66-7709-0277D4D085BA}"/>
              </a:ext>
            </a:extLst>
          </p:cNvPr>
          <p:cNvSpPr txBox="1"/>
          <p:nvPr/>
        </p:nvSpPr>
        <p:spPr>
          <a:xfrm>
            <a:off x="255639" y="24390"/>
            <a:ext cx="695140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3">
                    <a:lumMod val="75000"/>
                  </a:schemeClr>
                </a:solidFill>
              </a:rPr>
              <a:t>Most and Least Popular Genres</a:t>
            </a:r>
            <a:endParaRPr lang="el-GR" sz="25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3" name="Picture 22" descr="A green and black circle with a black arrow in it&#10;&#10;AI-generated content may be incorrect.">
            <a:extLst>
              <a:ext uri="{FF2B5EF4-FFF2-40B4-BE49-F238E27FC236}">
                <a16:creationId xmlns:a16="http://schemas.microsoft.com/office/drawing/2014/main" id="{F0453C5F-74DE-11B5-B9E7-76F9DA9BDD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22517" r="22833" b="17094"/>
          <a:stretch>
            <a:fillRect/>
          </a:stretch>
        </p:blipFill>
        <p:spPr>
          <a:xfrm>
            <a:off x="11490872" y="309726"/>
            <a:ext cx="376662" cy="408027"/>
          </a:xfrm>
          <a:prstGeom prst="ellipse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F10F36F-7E0F-706D-57A5-DBAA5932F7E0}"/>
              </a:ext>
            </a:extLst>
          </p:cNvPr>
          <p:cNvSpPr txBox="1"/>
          <p:nvPr/>
        </p:nvSpPr>
        <p:spPr>
          <a:xfrm>
            <a:off x="678425" y="678413"/>
            <a:ext cx="11189109" cy="64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By grouping the data by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genre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and calculating the average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popularity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score, we can see which styles perform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better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and which perform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lower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on Spotify</a:t>
            </a:r>
            <a:r>
              <a:rPr lang="el-GR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</p:txBody>
      </p:sp>
      <p:pic>
        <p:nvPicPr>
          <p:cNvPr id="33" name="Graphic 32" descr="Bullseye with solid fill">
            <a:extLst>
              <a:ext uri="{FF2B5EF4-FFF2-40B4-BE49-F238E27FC236}">
                <a16:creationId xmlns:a16="http://schemas.microsoft.com/office/drawing/2014/main" id="{D005C369-7230-C427-0C27-6AC0810FF4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639" y="760769"/>
            <a:ext cx="479312" cy="479312"/>
          </a:xfrm>
          <a:prstGeom prst="rect">
            <a:avLst/>
          </a:prstGeom>
        </p:spPr>
      </p:pic>
      <p:pic>
        <p:nvPicPr>
          <p:cNvPr id="43" name="Graphic 42" descr="Arrow Down with solid fill">
            <a:extLst>
              <a:ext uri="{FF2B5EF4-FFF2-40B4-BE49-F238E27FC236}">
                <a16:creationId xmlns:a16="http://schemas.microsoft.com/office/drawing/2014/main" id="{1FB8824E-B72A-6817-C2FD-963D9D0C90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58166" y="4882228"/>
            <a:ext cx="914400" cy="914400"/>
          </a:xfrm>
          <a:prstGeom prst="rect">
            <a:avLst/>
          </a:prstGeom>
        </p:spPr>
      </p:pic>
      <p:pic>
        <p:nvPicPr>
          <p:cNvPr id="45" name="Graphic 44" descr="Arrow Up with solid fill">
            <a:extLst>
              <a:ext uri="{FF2B5EF4-FFF2-40B4-BE49-F238E27FC236}">
                <a16:creationId xmlns:a16="http://schemas.microsoft.com/office/drawing/2014/main" id="{1B82FD5F-2694-6C56-7BEB-0C396370A5D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18837" y="2348099"/>
            <a:ext cx="894737" cy="89473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AA5E5A5-C992-99E7-E0A9-8E8E24CB8FE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0219" y="1397255"/>
            <a:ext cx="10377948" cy="265195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9D5F97CA-70CB-D35C-BFE0-3E079F00203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465" y="4084695"/>
            <a:ext cx="10294372" cy="269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78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710CB-F3A1-3EBC-73A6-47A3C5A5C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862355F9-174C-F498-237E-EA40B786442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52953D-B5D2-D92D-58D3-D136326C0A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4ACCD14-6975-6EA3-FAE1-7463B73CB166}"/>
              </a:ext>
            </a:extLst>
          </p:cNvPr>
          <p:cNvCxnSpPr>
            <a:cxnSpLocks/>
          </p:cNvCxnSpPr>
          <p:nvPr/>
        </p:nvCxnSpPr>
        <p:spPr>
          <a:xfrm>
            <a:off x="324465" y="521109"/>
            <a:ext cx="11189109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46231FF-EE44-1ABB-5659-E7C770648989}"/>
              </a:ext>
            </a:extLst>
          </p:cNvPr>
          <p:cNvSpPr txBox="1"/>
          <p:nvPr/>
        </p:nvSpPr>
        <p:spPr>
          <a:xfrm>
            <a:off x="255639" y="24390"/>
            <a:ext cx="695140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3">
                    <a:lumMod val="75000"/>
                  </a:schemeClr>
                </a:solidFill>
              </a:rPr>
              <a:t>Audio Features of Popular Genres</a:t>
            </a:r>
            <a:endParaRPr lang="el-GR" sz="25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3" name="Picture 22" descr="A green and black circle with a black arrow in it&#10;&#10;AI-generated content may be incorrect.">
            <a:extLst>
              <a:ext uri="{FF2B5EF4-FFF2-40B4-BE49-F238E27FC236}">
                <a16:creationId xmlns:a16="http://schemas.microsoft.com/office/drawing/2014/main" id="{7333A2E3-E5B3-6B31-0162-39C485E5F7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22517" r="22833" b="17094"/>
          <a:stretch>
            <a:fillRect/>
          </a:stretch>
        </p:blipFill>
        <p:spPr>
          <a:xfrm>
            <a:off x="11490872" y="309726"/>
            <a:ext cx="376662" cy="408027"/>
          </a:xfrm>
          <a:prstGeom prst="ellipse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85B9580-4D03-5283-1949-04CB7336DCDC}"/>
              </a:ext>
            </a:extLst>
          </p:cNvPr>
          <p:cNvSpPr txBox="1"/>
          <p:nvPr/>
        </p:nvSpPr>
        <p:spPr>
          <a:xfrm>
            <a:off x="678425" y="678413"/>
            <a:ext cx="11189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This grouped bar plot shows the average values of three key audio features —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energy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,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danceability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, and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valence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— for the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Top 10 most popular genres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in the dataset.</a:t>
            </a:r>
            <a:endParaRPr lang="el-GR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3" name="Graphic 32" descr="Bullseye with solid fill">
            <a:extLst>
              <a:ext uri="{FF2B5EF4-FFF2-40B4-BE49-F238E27FC236}">
                <a16:creationId xmlns:a16="http://schemas.microsoft.com/office/drawing/2014/main" id="{A81DD191-5133-9EF3-7492-DAC2FB64FD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639" y="760769"/>
            <a:ext cx="479312" cy="479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27E14E-A9C8-3DFB-AA93-7107D5B2E8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004550"/>
            <a:ext cx="12005187" cy="305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12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E66E3-2632-7160-A5A1-6E5553AD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980D4635-353D-FAFE-69BE-C20BBD98319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62355F9-174C-F498-237E-EA40B78644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1A5F8E-F8FE-6660-3700-542911E5D9C0}"/>
              </a:ext>
            </a:extLst>
          </p:cNvPr>
          <p:cNvCxnSpPr>
            <a:cxnSpLocks/>
          </p:cNvCxnSpPr>
          <p:nvPr/>
        </p:nvCxnSpPr>
        <p:spPr>
          <a:xfrm>
            <a:off x="324465" y="521109"/>
            <a:ext cx="11189109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54F7E8F-BEF4-BAEF-100A-45590D5AC858}"/>
              </a:ext>
            </a:extLst>
          </p:cNvPr>
          <p:cNvSpPr txBox="1"/>
          <p:nvPr/>
        </p:nvSpPr>
        <p:spPr>
          <a:xfrm>
            <a:off x="255639" y="24390"/>
            <a:ext cx="695140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3">
                    <a:lumMod val="75000"/>
                  </a:schemeClr>
                </a:solidFill>
              </a:rPr>
              <a:t>Popular Artists</a:t>
            </a:r>
            <a:endParaRPr lang="el-GR" sz="25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3" name="Picture 22" descr="A green and black circle with a black arrow in it&#10;&#10;AI-generated content may be incorrect.">
            <a:extLst>
              <a:ext uri="{FF2B5EF4-FFF2-40B4-BE49-F238E27FC236}">
                <a16:creationId xmlns:a16="http://schemas.microsoft.com/office/drawing/2014/main" id="{34522337-C691-6E0F-5B86-884640E357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22517" r="22833" b="17094"/>
          <a:stretch>
            <a:fillRect/>
          </a:stretch>
        </p:blipFill>
        <p:spPr>
          <a:xfrm>
            <a:off x="11490872" y="309726"/>
            <a:ext cx="376662" cy="408027"/>
          </a:xfrm>
          <a:prstGeom prst="ellipse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112A3C6-11FD-DF8C-ABC7-96A8B7512948}"/>
              </a:ext>
            </a:extLst>
          </p:cNvPr>
          <p:cNvSpPr txBox="1"/>
          <p:nvPr/>
        </p:nvSpPr>
        <p:spPr>
          <a:xfrm>
            <a:off x="678425" y="732493"/>
            <a:ext cx="11189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Artists</a:t>
            </a:r>
            <a:r>
              <a:rPr lang="en-US" b="1" dirty="0"/>
              <a:t>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who consistently achieve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high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listener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engagement.</a:t>
            </a:r>
            <a:br>
              <a:rPr lang="en-US" dirty="0">
                <a:solidFill>
                  <a:schemeClr val="accent3">
                    <a:lumMod val="75000"/>
                  </a:schemeClr>
                </a:solidFill>
              </a:rPr>
            </a:br>
            <a:endParaRPr lang="el-GR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3" name="Graphic 32" descr="Bullseye with solid fill">
            <a:extLst>
              <a:ext uri="{FF2B5EF4-FFF2-40B4-BE49-F238E27FC236}">
                <a16:creationId xmlns:a16="http://schemas.microsoft.com/office/drawing/2014/main" id="{BB4E5C2E-36BD-43E2-AEBF-66F58B4D18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639" y="652616"/>
            <a:ext cx="479312" cy="4793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A57BDE-734A-F73D-976B-642E59B820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64" y="1809136"/>
            <a:ext cx="11965624" cy="33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8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71224B-ACED-BAAD-B913-453CA67D2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B90923C6-E20F-9D11-5B22-58DA22E8BA5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80D4635-353D-FAFE-69BE-C20BBD9831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1BCAF1-B84A-4CA0-6FAA-22150C6007C4}"/>
              </a:ext>
            </a:extLst>
          </p:cNvPr>
          <p:cNvCxnSpPr>
            <a:cxnSpLocks/>
          </p:cNvCxnSpPr>
          <p:nvPr/>
        </p:nvCxnSpPr>
        <p:spPr>
          <a:xfrm>
            <a:off x="324465" y="521109"/>
            <a:ext cx="11189109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9F50288-1792-C4BE-4A18-A9DDF5B65E48}"/>
              </a:ext>
            </a:extLst>
          </p:cNvPr>
          <p:cNvSpPr txBox="1"/>
          <p:nvPr/>
        </p:nvSpPr>
        <p:spPr>
          <a:xfrm>
            <a:off x="255639" y="24390"/>
            <a:ext cx="695140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3">
                    <a:lumMod val="75000"/>
                  </a:schemeClr>
                </a:solidFill>
              </a:rPr>
              <a:t>Explicit Content</a:t>
            </a:r>
            <a:endParaRPr lang="el-GR" sz="25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3" name="Picture 22" descr="A green and black circle with a black arrow in it&#10;&#10;AI-generated content may be incorrect.">
            <a:extLst>
              <a:ext uri="{FF2B5EF4-FFF2-40B4-BE49-F238E27FC236}">
                <a16:creationId xmlns:a16="http://schemas.microsoft.com/office/drawing/2014/main" id="{BD38B961-FF84-9E57-8295-E6B5FECA24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22517" r="22833" b="17094"/>
          <a:stretch>
            <a:fillRect/>
          </a:stretch>
        </p:blipFill>
        <p:spPr>
          <a:xfrm>
            <a:off x="11490872" y="309726"/>
            <a:ext cx="376662" cy="408027"/>
          </a:xfrm>
          <a:prstGeom prst="ellipse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A9C7F69-FA99-325E-422D-F06DD8E0536A}"/>
              </a:ext>
            </a:extLst>
          </p:cNvPr>
          <p:cNvSpPr txBox="1"/>
          <p:nvPr/>
        </p:nvSpPr>
        <p:spPr>
          <a:xfrm>
            <a:off x="734951" y="652616"/>
            <a:ext cx="3703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Shows the percentage of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tracks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marked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as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explicit.</a:t>
            </a:r>
            <a:endParaRPr lang="el-G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3" name="Graphic 32" descr="Bullseye with solid fill">
            <a:extLst>
              <a:ext uri="{FF2B5EF4-FFF2-40B4-BE49-F238E27FC236}">
                <a16:creationId xmlns:a16="http://schemas.microsoft.com/office/drawing/2014/main" id="{6A4AE798-AF14-A558-AC53-0487AFD0B3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5639" y="851704"/>
            <a:ext cx="479312" cy="479312"/>
          </a:xfrm>
          <a:prstGeom prst="rect">
            <a:avLst/>
          </a:prstGeom>
        </p:spPr>
      </p:pic>
      <p:pic>
        <p:nvPicPr>
          <p:cNvPr id="10" name="Picture 9" descr="A green and black bar graph&#10;&#10;AI-generated content may be incorrect.">
            <a:extLst>
              <a:ext uri="{FF2B5EF4-FFF2-40B4-BE49-F238E27FC236}">
                <a16:creationId xmlns:a16="http://schemas.microsoft.com/office/drawing/2014/main" id="{4CA8FA56-A7AB-3817-FFE2-27C11A91DC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515" y="1988580"/>
            <a:ext cx="7592264" cy="399568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1559F6-6E19-4C44-ABF4-C5463D4BDE8B}"/>
              </a:ext>
            </a:extLst>
          </p:cNvPr>
          <p:cNvCxnSpPr/>
          <p:nvPr/>
        </p:nvCxnSpPr>
        <p:spPr>
          <a:xfrm>
            <a:off x="4198374" y="652616"/>
            <a:ext cx="0" cy="5846507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39504AB-41A5-AEAC-CFA6-5953DFE43F55}"/>
              </a:ext>
            </a:extLst>
          </p:cNvPr>
          <p:cNvSpPr txBox="1"/>
          <p:nvPr/>
        </p:nvSpPr>
        <p:spPr>
          <a:xfrm>
            <a:off x="5211096" y="773514"/>
            <a:ext cx="566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Shows which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genres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have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more or less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explicit content</a:t>
            </a:r>
            <a:endParaRPr lang="el-GR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4" name="Graphic 13" descr="Bullseye with solid fill">
            <a:extLst>
              <a:ext uri="{FF2B5EF4-FFF2-40B4-BE49-F238E27FC236}">
                <a16:creationId xmlns:a16="http://schemas.microsoft.com/office/drawing/2014/main" id="{6D0152A3-2BC9-125D-B641-C33A481509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82405" y="851704"/>
            <a:ext cx="479312" cy="4793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63522A-2523-77C7-04E7-192B17F0F0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569" y="1879599"/>
            <a:ext cx="3883665" cy="34831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CB64BC5-221B-D4B5-E36F-3832CA726E84}"/>
              </a:ext>
            </a:extLst>
          </p:cNvPr>
          <p:cNvSpPr txBox="1"/>
          <p:nvPr/>
        </p:nvSpPr>
        <p:spPr>
          <a:xfrm>
            <a:off x="2099143" y="2677102"/>
            <a:ext cx="699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9,3%</a:t>
            </a:r>
            <a:endParaRPr lang="el-GR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681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83975-B749-36BC-558F-00DAED3FA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BE072B14-2E3E-BAED-59F5-AE90E8B3D93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90923C6-E20F-9D11-5B22-58DA22E8BA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5E61AD-6882-5186-FC76-7B39E930BD48}"/>
              </a:ext>
            </a:extLst>
          </p:cNvPr>
          <p:cNvCxnSpPr>
            <a:cxnSpLocks/>
          </p:cNvCxnSpPr>
          <p:nvPr/>
        </p:nvCxnSpPr>
        <p:spPr>
          <a:xfrm>
            <a:off x="324465" y="521109"/>
            <a:ext cx="11189109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BDF234F-D062-3CC4-6C36-FFFF93AA98A3}"/>
              </a:ext>
            </a:extLst>
          </p:cNvPr>
          <p:cNvSpPr txBox="1"/>
          <p:nvPr/>
        </p:nvSpPr>
        <p:spPr>
          <a:xfrm>
            <a:off x="255639" y="24390"/>
            <a:ext cx="695140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3">
                    <a:lumMod val="75000"/>
                  </a:schemeClr>
                </a:solidFill>
              </a:rPr>
              <a:t>Energy vs Loudness</a:t>
            </a:r>
            <a:endParaRPr lang="el-GR" sz="25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3" name="Picture 22" descr="A green and black circle with a black arrow in it&#10;&#10;AI-generated content may be incorrect.">
            <a:extLst>
              <a:ext uri="{FF2B5EF4-FFF2-40B4-BE49-F238E27FC236}">
                <a16:creationId xmlns:a16="http://schemas.microsoft.com/office/drawing/2014/main" id="{1583F8AB-0161-19CD-A1DB-AB774B0E84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22517" r="22833" b="17094"/>
          <a:stretch>
            <a:fillRect/>
          </a:stretch>
        </p:blipFill>
        <p:spPr>
          <a:xfrm>
            <a:off x="11490872" y="309726"/>
            <a:ext cx="376662" cy="408027"/>
          </a:xfrm>
          <a:prstGeom prst="ellipse">
            <a:avLst/>
          </a:prstGeom>
        </p:spPr>
      </p:pic>
      <p:pic>
        <p:nvPicPr>
          <p:cNvPr id="5" name="Picture 4" descr="A green dotted line with numbers&#10;&#10;AI-generated content may be incorrect.">
            <a:extLst>
              <a:ext uri="{FF2B5EF4-FFF2-40B4-BE49-F238E27FC236}">
                <a16:creationId xmlns:a16="http://schemas.microsoft.com/office/drawing/2014/main" id="{3CBFDFCD-44A5-098B-0841-8F538E7F01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9" y="1374026"/>
            <a:ext cx="7175869" cy="49532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087458-B678-BB0B-F3C3-0BD4586C3738}"/>
              </a:ext>
            </a:extLst>
          </p:cNvPr>
          <p:cNvSpPr txBox="1"/>
          <p:nvPr/>
        </p:nvSpPr>
        <p:spPr>
          <a:xfrm>
            <a:off x="678425" y="732493"/>
            <a:ext cx="1118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Correlation between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energy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and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loudness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0.77</a:t>
            </a:r>
            <a:endParaRPr lang="el-G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Graphic 6" descr="Bullseye with solid fill">
            <a:extLst>
              <a:ext uri="{FF2B5EF4-FFF2-40B4-BE49-F238E27FC236}">
                <a16:creationId xmlns:a16="http://schemas.microsoft.com/office/drawing/2014/main" id="{8C41E2E9-534B-6EED-3D36-62DB26724D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5639" y="652616"/>
            <a:ext cx="479312" cy="47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92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0D77B3-7D2B-8E74-FE3A-64AFC229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39A56C4B-85AB-015B-FA03-98940E48E9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E072B14-2E3E-BAED-59F5-AE90E8B3D9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2D596D-B790-3CBD-89CB-0BC90137A88C}"/>
              </a:ext>
            </a:extLst>
          </p:cNvPr>
          <p:cNvCxnSpPr>
            <a:cxnSpLocks/>
          </p:cNvCxnSpPr>
          <p:nvPr/>
        </p:nvCxnSpPr>
        <p:spPr>
          <a:xfrm>
            <a:off x="324465" y="521109"/>
            <a:ext cx="11189109" cy="0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D4B3010-0B57-99C8-BF64-D4F5A8CADB08}"/>
              </a:ext>
            </a:extLst>
          </p:cNvPr>
          <p:cNvSpPr txBox="1"/>
          <p:nvPr/>
        </p:nvSpPr>
        <p:spPr>
          <a:xfrm>
            <a:off x="255639" y="24390"/>
            <a:ext cx="695140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3">
                    <a:lumMod val="75000"/>
                  </a:schemeClr>
                </a:solidFill>
              </a:rPr>
              <a:t>BPM vs Popularity</a:t>
            </a:r>
            <a:endParaRPr lang="el-GR" sz="25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3" name="Picture 22" descr="A green and black circle with a black arrow in it&#10;&#10;AI-generated content may be incorrect.">
            <a:extLst>
              <a:ext uri="{FF2B5EF4-FFF2-40B4-BE49-F238E27FC236}">
                <a16:creationId xmlns:a16="http://schemas.microsoft.com/office/drawing/2014/main" id="{B54DE630-886D-0B6D-75AD-C5981EC8FC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22517" r="22833" b="17094"/>
          <a:stretch>
            <a:fillRect/>
          </a:stretch>
        </p:blipFill>
        <p:spPr>
          <a:xfrm>
            <a:off x="11490872" y="309726"/>
            <a:ext cx="376662" cy="408027"/>
          </a:xfrm>
          <a:prstGeom prst="ellipse">
            <a:avLst/>
          </a:prstGeom>
        </p:spPr>
      </p:pic>
      <p:pic>
        <p:nvPicPr>
          <p:cNvPr id="6" name="Picture 5" descr="A green dot diagram with white text&#10;&#10;AI-generated content may be incorrect.">
            <a:extLst>
              <a:ext uri="{FF2B5EF4-FFF2-40B4-BE49-F238E27FC236}">
                <a16:creationId xmlns:a16="http://schemas.microsoft.com/office/drawing/2014/main" id="{D04BFEC9-7822-0F00-9DA8-CF48CF7627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9" y="1080590"/>
            <a:ext cx="7582290" cy="53850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FF03F6-8C63-6217-6DB1-EA5EAE4A090B}"/>
              </a:ext>
            </a:extLst>
          </p:cNvPr>
          <p:cNvSpPr txBox="1"/>
          <p:nvPr/>
        </p:nvSpPr>
        <p:spPr>
          <a:xfrm>
            <a:off x="678425" y="732493"/>
            <a:ext cx="1118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Correlation between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BPM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and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Popularity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0.02</a:t>
            </a:r>
            <a:endParaRPr lang="el-GR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8" name="Graphic 7" descr="Bullseye with solid fill">
            <a:extLst>
              <a:ext uri="{FF2B5EF4-FFF2-40B4-BE49-F238E27FC236}">
                <a16:creationId xmlns:a16="http://schemas.microsoft.com/office/drawing/2014/main" id="{029600B4-B8F7-D2DD-D1EC-576A11642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5639" y="652616"/>
            <a:ext cx="479312" cy="47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95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67F0E-CFF9-0541-38B3-5AC17E558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C42A37-9229-6375-3FB3-78529F6CC59B}"/>
              </a:ext>
            </a:extLst>
          </p:cNvPr>
          <p:cNvSpPr txBox="1"/>
          <p:nvPr/>
        </p:nvSpPr>
        <p:spPr>
          <a:xfrm>
            <a:off x="3048000" y="2703872"/>
            <a:ext cx="7610168" cy="9143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5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Thank You for your attention! </a:t>
            </a:r>
            <a:endParaRPr lang="el-GR" sz="35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5849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172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Aggeliki Triantafyllou</dc:creator>
  <cp:lastModifiedBy>Aggeliki Triantafyllou</cp:lastModifiedBy>
  <cp:revision>16</cp:revision>
  <dcterms:created xsi:type="dcterms:W3CDTF">2025-12-06T09:51:25Z</dcterms:created>
  <dcterms:modified xsi:type="dcterms:W3CDTF">2025-12-06T13:37:28Z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cc3e47-7f2f-42e0-be7c-4ac16c3a9085_Enabled">
    <vt:lpwstr>true</vt:lpwstr>
  </property>
  <property fmtid="{D5CDD505-2E9C-101B-9397-08002B2CF9AE}" pid="3" name="MSIP_Label_68cc3e47-7f2f-42e0-be7c-4ac16c3a9085_SetDate">
    <vt:lpwstr>2025-12-06T11:23:29Z</vt:lpwstr>
  </property>
  <property fmtid="{D5CDD505-2E9C-101B-9397-08002B2CF9AE}" pid="4" name="MSIP_Label_68cc3e47-7f2f-42e0-be7c-4ac16c3a9085_Method">
    <vt:lpwstr>Standard</vt:lpwstr>
  </property>
  <property fmtid="{D5CDD505-2E9C-101B-9397-08002B2CF9AE}" pid="5" name="MSIP_Label_68cc3e47-7f2f-42e0-be7c-4ac16c3a9085_Name">
    <vt:lpwstr>Internal</vt:lpwstr>
  </property>
  <property fmtid="{D5CDD505-2E9C-101B-9397-08002B2CF9AE}" pid="6" name="MSIP_Label_68cc3e47-7f2f-42e0-be7c-4ac16c3a9085_SiteId">
    <vt:lpwstr>c99a6eaf-0642-4203-bbc7-4e7ff2354318</vt:lpwstr>
  </property>
  <property fmtid="{D5CDD505-2E9C-101B-9397-08002B2CF9AE}" pid="7" name="MSIP_Label_68cc3e47-7f2f-42e0-be7c-4ac16c3a9085_ActionId">
    <vt:lpwstr>030ab5eb-ed21-4be3-8eb7-e7afc94973d1</vt:lpwstr>
  </property>
  <property fmtid="{D5CDD505-2E9C-101B-9397-08002B2CF9AE}" pid="8" name="MSIP_Label_68cc3e47-7f2f-42e0-be7c-4ac16c3a9085_ContentBits">
    <vt:lpwstr>0</vt:lpwstr>
  </property>
  <property fmtid="{D5CDD505-2E9C-101B-9397-08002B2CF9AE}" pid="9" name="MSIP_Label_68cc3e47-7f2f-42e0-be7c-4ac16c3a9085_Tag">
    <vt:lpwstr>10, 3, 0, 1</vt:lpwstr>
  </property>
</Properties>
</file>